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6.jpg" ContentType="image/png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17" r:id="rId5"/>
    <p:sldId id="318" r:id="rId6"/>
    <p:sldId id="307" r:id="rId7"/>
    <p:sldId id="308" r:id="rId8"/>
    <p:sldId id="278" r:id="rId9"/>
    <p:sldId id="309" r:id="rId10"/>
    <p:sldId id="263" r:id="rId11"/>
    <p:sldId id="310" r:id="rId12"/>
    <p:sldId id="312" r:id="rId13"/>
    <p:sldId id="314" r:id="rId14"/>
    <p:sldId id="30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95405" autoAdjust="0"/>
  </p:normalViewPr>
  <p:slideViewPr>
    <p:cSldViewPr snapToGrid="0">
      <p:cViewPr varScale="1">
        <p:scale>
          <a:sx n="79" d="100"/>
          <a:sy n="79" d="100"/>
        </p:scale>
        <p:origin x="888" y="77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4/12/2026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4/12/2026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xhere.com/en/photo/1563785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hyperlink" Target="mailto:info@elitewellness.com" TargetMode="Externa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710119"/>
            <a:ext cx="10360152" cy="1420238"/>
          </a:xfrm>
        </p:spPr>
        <p:txBody>
          <a:bodyPr anchor="ctr"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ZARA THERAPY CLINIC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5171F1-08B7-815A-609B-48C63FA95175}"/>
              </a:ext>
            </a:extLst>
          </p:cNvPr>
          <p:cNvSpPr txBox="1"/>
          <p:nvPr/>
        </p:nvSpPr>
        <p:spPr>
          <a:xfrm>
            <a:off x="1509409" y="1761025"/>
            <a:ext cx="8628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bg2">
                    <a:lumMod val="10000"/>
                  </a:schemeClr>
                </a:solidFill>
              </a:rPr>
              <a:t>Healing Minds, and Transforming Lives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A4446-DABD-934C-7CF2-42B62567AD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04937" y="2305773"/>
            <a:ext cx="7782126" cy="39199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5AD4F7-C80E-82E0-71F5-4B1440B5EAA6}"/>
              </a:ext>
            </a:extLst>
          </p:cNvPr>
          <p:cNvSpPr txBox="1"/>
          <p:nvPr/>
        </p:nvSpPr>
        <p:spPr>
          <a:xfrm>
            <a:off x="4017523" y="1028980"/>
            <a:ext cx="41569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TOPICS: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4E68D5-A0E2-2FF5-54B2-514FBAEA91EA}"/>
              </a:ext>
            </a:extLst>
          </p:cNvPr>
          <p:cNvSpPr txBox="1"/>
          <p:nvPr/>
        </p:nvSpPr>
        <p:spPr>
          <a:xfrm>
            <a:off x="4601182" y="2208179"/>
            <a:ext cx="474709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INTRODUCTION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OUR 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OUR SERVICES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SPECIALIZED TREATMENTS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OUR TEAM WHY CHOOSE 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CLIENT REVIEWS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CONTACT US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91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79" y="418289"/>
            <a:ext cx="4387657" cy="1809345"/>
          </a:xfrm>
        </p:spPr>
        <p:txBody>
          <a:bodyPr/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BEA25-AE39-3D1D-D5F5-7800F5A1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5722" y="418289"/>
            <a:ext cx="4190999" cy="6079786"/>
          </a:xfrm>
          <a:ln>
            <a:noFill/>
          </a:ln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600" dirty="0">
                <a:latin typeface="+mj-lt"/>
              </a:rPr>
              <a:t>Zara therapy clinic is a professional mental health and wellness center.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600" dirty="0">
                <a:latin typeface="+mj-lt"/>
              </a:rPr>
              <a:t>Dedicated to providing compassionate care.</a:t>
            </a:r>
          </a:p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US" sz="2600" dirty="0">
                <a:latin typeface="+mj-lt"/>
              </a:rPr>
              <a:t>It focuses on emotional, psychological, and behavioral well-being</a:t>
            </a:r>
            <a:r>
              <a:rPr lang="en-US" sz="2600" dirty="0">
                <a:latin typeface="Agency FB" panose="020B0503020202020204" pitchFamily="34" charset="0"/>
              </a:rPr>
              <a:t>. </a:t>
            </a: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752D763-402C-0278-4628-3F30376BAE39}"/>
              </a:ext>
            </a:extLst>
          </p:cNvPr>
          <p:cNvSpPr/>
          <p:nvPr/>
        </p:nvSpPr>
        <p:spPr>
          <a:xfrm>
            <a:off x="412899" y="1755842"/>
            <a:ext cx="3745149" cy="3686783"/>
          </a:xfrm>
          <a:prstGeom prst="flowChartConnector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595A770-4DF0-B78C-1CA8-9A1C5A8D7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09" y="1848255"/>
            <a:ext cx="3578727" cy="3501956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1607"/>
            <a:ext cx="5704459" cy="1585608"/>
          </a:xfrm>
        </p:spPr>
        <p:txBody>
          <a:bodyPr/>
          <a:lstStyle/>
          <a:p>
            <a:pPr algn="ctr"/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MISSION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AFF9CF-253C-3767-1168-5A48888885E3}"/>
              </a:ext>
            </a:extLst>
          </p:cNvPr>
          <p:cNvSpPr txBox="1"/>
          <p:nvPr/>
        </p:nvSpPr>
        <p:spPr>
          <a:xfrm>
            <a:off x="535021" y="1702341"/>
            <a:ext cx="556097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+mj-lt"/>
              </a:rPr>
              <a:t>To promote mental wellness.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+mj-lt"/>
              </a:rPr>
              <a:t>Provide safe and supportive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latin typeface="+mj-lt"/>
              </a:rPr>
              <a:t>Empower individuals to lead healthier lives.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D50A4ED-09EF-3D21-7B3E-691291FC7EA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7036" r="27036"/>
          <a:stretch/>
        </p:blipFill>
        <p:spPr>
          <a:xfrm>
            <a:off x="7477246" y="1"/>
            <a:ext cx="4732845" cy="6504972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rgbClr val="E5DACF">
              <a:lumMod val="75000"/>
            </a:srgbClr>
          </a:solidFill>
        </p:spPr>
      </p:pic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377AF6-2477-81EC-D1BC-43FD72DF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3033" y="531509"/>
            <a:ext cx="5449824" cy="729205"/>
          </a:xfrm>
        </p:spPr>
        <p:txBody>
          <a:bodyPr anchor="b"/>
          <a:lstStyle/>
          <a:p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Services 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0DEBEDD0-2C97-CD36-23CF-99F08280682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1750" r="11750"/>
          <a:stretch/>
        </p:blipFill>
        <p:spPr>
          <a:xfrm>
            <a:off x="-1" y="261780"/>
            <a:ext cx="5046134" cy="6596220"/>
          </a:xfrm>
          <a:solidFill>
            <a:schemeClr val="tx1"/>
          </a:solidFill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00EBDF4-3413-FCF9-2E25-9A254A61F23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730749" y="1765140"/>
            <a:ext cx="5449824" cy="456135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Individual therapy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Family counseling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Child and adolescent therapy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Stress and anxiety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Depression treatment</a:t>
            </a: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987" y="420542"/>
            <a:ext cx="7731426" cy="914400"/>
          </a:xfrm>
        </p:spPr>
        <p:txBody>
          <a:bodyPr/>
          <a:lstStyle/>
          <a:p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SPECIALIZED TREATMENTS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679" y="1750712"/>
            <a:ext cx="7845089" cy="3356576"/>
          </a:xfrm>
        </p:spPr>
        <p:txBody>
          <a:bodyPr>
            <a:normAutofit/>
          </a:bodyPr>
          <a:lstStyle/>
          <a:p>
            <a:pPr lvl="1"/>
            <a:r>
              <a:rPr lang="en-US" sz="3200" dirty="0"/>
              <a:t>COGNITIVE BEHAVIORAL THERAPY (CBT)</a:t>
            </a:r>
          </a:p>
          <a:p>
            <a:pPr lvl="1"/>
            <a:r>
              <a:rPr lang="en-US" sz="3200" dirty="0"/>
              <a:t>TRAUMA THERAPY</a:t>
            </a:r>
          </a:p>
          <a:p>
            <a:pPr lvl="1"/>
            <a:r>
              <a:rPr lang="en-US" sz="3200" dirty="0"/>
              <a:t>ANGER MANAGEMENT</a:t>
            </a:r>
          </a:p>
          <a:p>
            <a:pPr lvl="1"/>
            <a:r>
              <a:rPr lang="en-US" sz="3200" dirty="0"/>
              <a:t>RELATIONSHIP COUNSELING ILLUSTRATION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F45752-5FF7-DAD9-92D2-EEF37AB882C8}"/>
              </a:ext>
            </a:extLst>
          </p:cNvPr>
          <p:cNvSpPr/>
          <p:nvPr/>
        </p:nvSpPr>
        <p:spPr>
          <a:xfrm>
            <a:off x="7280476" y="2835797"/>
            <a:ext cx="4328932" cy="326406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607B6E-DF98-B082-BBF5-6E946957E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647" y="2928395"/>
            <a:ext cx="4120587" cy="3078866"/>
          </a:xfrm>
          <a:prstGeom prst="flowChartAlternateProcess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924" y="289367"/>
            <a:ext cx="10360152" cy="1064871"/>
          </a:xfrm>
        </p:spPr>
        <p:txBody>
          <a:bodyPr anchor="b"/>
          <a:lstStyle/>
          <a:p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TEAM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1547C-932E-21A2-6117-DD421B98E2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54369" y="1553902"/>
            <a:ext cx="5000152" cy="200241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dirty="0"/>
              <a:t>QUALIFIED PSYCHOLOGISTS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dirty="0"/>
              <a:t>THERAPISTS CERTIFIED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dirty="0"/>
              <a:t>EXPERIENCED COUNSELORS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800" dirty="0"/>
              <a:t>FRIENDLY SUPPORT STAFF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C2ED99F8-91A8-464C-97C4-C1651EED3E3F}"/>
              </a:ext>
            </a:extLst>
          </p:cNvPr>
          <p:cNvSpPr/>
          <p:nvPr/>
        </p:nvSpPr>
        <p:spPr>
          <a:xfrm>
            <a:off x="1294380" y="4039566"/>
            <a:ext cx="2789499" cy="250012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1718D5A4-B030-A2E0-CC7A-748C75A123DC}"/>
              </a:ext>
            </a:extLst>
          </p:cNvPr>
          <p:cNvSpPr/>
          <p:nvPr/>
        </p:nvSpPr>
        <p:spPr>
          <a:xfrm>
            <a:off x="4745565" y="4039566"/>
            <a:ext cx="2905245" cy="250013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E9C3F5FD-9332-3637-63FE-B55AB16EFFB6}"/>
              </a:ext>
            </a:extLst>
          </p:cNvPr>
          <p:cNvSpPr/>
          <p:nvPr/>
        </p:nvSpPr>
        <p:spPr>
          <a:xfrm>
            <a:off x="8287473" y="3912244"/>
            <a:ext cx="2905246" cy="250013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049280-B2F5-BDB2-B3A6-EBF7B9E41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380" y="3912244"/>
            <a:ext cx="2814522" cy="2783710"/>
          </a:xfrm>
          <a:prstGeom prst="flowChartConnector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1C252D-2A3E-A9C4-606E-B3BD7F6B4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565" y="3912244"/>
            <a:ext cx="2930268" cy="2783710"/>
          </a:xfrm>
          <a:prstGeom prst="flowChartConnector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E321BC5-5727-0002-7CEA-F711607997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4961" y="3755985"/>
            <a:ext cx="2930269" cy="2783710"/>
          </a:xfrm>
          <a:prstGeom prst="flowChartConnector">
            <a:avLst/>
          </a:prstGeom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4064" y="537838"/>
            <a:ext cx="10360152" cy="914400"/>
          </a:xfrm>
        </p:spPr>
        <p:txBody>
          <a:bodyPr/>
          <a:lstStyle/>
          <a:p>
            <a:r>
              <a:rPr lang="en-US" sz="4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CHOOSE US?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2F3CEF66-C6D7-C765-24E7-1DCFB38FE51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 rot="10800000" flipV="1">
            <a:off x="5310851" y="2210629"/>
            <a:ext cx="5454569" cy="366917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CONFIDNTIAL &amp; SAFE ENVIRONMENT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PERSONALIZED TREATMENT PLANS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EVIDENCE-BASED PRACTICES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AFFORDABLE SERVICES</a:t>
            </a:r>
          </a:p>
        </p:txBody>
      </p:sp>
      <p:sp>
        <p:nvSpPr>
          <p:cNvPr id="7" name="Flowchart: Internal Storage 6">
            <a:extLst>
              <a:ext uri="{FF2B5EF4-FFF2-40B4-BE49-F238E27FC236}">
                <a16:creationId xmlns:a16="http://schemas.microsoft.com/office/drawing/2014/main" id="{C514FF21-7378-3DE8-3B0A-469FDD38DFF2}"/>
              </a:ext>
            </a:extLst>
          </p:cNvPr>
          <p:cNvSpPr/>
          <p:nvPr/>
        </p:nvSpPr>
        <p:spPr>
          <a:xfrm>
            <a:off x="439838" y="781291"/>
            <a:ext cx="4282633" cy="5295420"/>
          </a:xfrm>
          <a:prstGeom prst="flowChartInternalStorage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31C287-C7FC-5228-4C47-2F7E94EFB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31" y="995038"/>
            <a:ext cx="3927207" cy="488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5044F7-BD97-2FDE-4E33-A565BCF0E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688" y="323731"/>
            <a:ext cx="7534656" cy="914400"/>
          </a:xfrm>
        </p:spPr>
        <p:txBody>
          <a:bodyPr/>
          <a:lstStyle/>
          <a:p>
            <a:r>
              <a:rPr lang="en-US" sz="4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 REVIEW :</a:t>
            </a:r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48869757-F643-C013-26AA-3DDE950800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2451" b="12451"/>
          <a:stretch/>
        </p:blipFill>
        <p:spPr>
          <a:xfrm>
            <a:off x="7617032" y="0"/>
            <a:ext cx="4589511" cy="6555026"/>
          </a:xfrm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40503AC1-E432-7157-22D1-E0BAEDBCDD78}"/>
              </a:ext>
            </a:extLst>
          </p:cNvPr>
          <p:cNvSpPr/>
          <p:nvPr/>
        </p:nvSpPr>
        <p:spPr>
          <a:xfrm>
            <a:off x="132497" y="1747417"/>
            <a:ext cx="2731626" cy="2384385"/>
          </a:xfrm>
          <a:prstGeom prst="wedgeEllipseCallout">
            <a:avLst/>
          </a:prstGeom>
          <a:solidFill>
            <a:schemeClr val="bg2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7AEEA5B9-972A-5278-72F3-4ADB404EA720}"/>
              </a:ext>
            </a:extLst>
          </p:cNvPr>
          <p:cNvSpPr/>
          <p:nvPr/>
        </p:nvSpPr>
        <p:spPr>
          <a:xfrm>
            <a:off x="2284852" y="3784562"/>
            <a:ext cx="2546430" cy="2268998"/>
          </a:xfrm>
          <a:prstGeom prst="wedgeEllipseCallout">
            <a:avLst/>
          </a:prstGeom>
          <a:solidFill>
            <a:schemeClr val="tx1">
              <a:lumMod val="40000"/>
              <a:lumOff val="6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7D18CC22-5727-4DC3-A3E6-B3966613D1F3}"/>
              </a:ext>
            </a:extLst>
          </p:cNvPr>
          <p:cNvSpPr/>
          <p:nvPr/>
        </p:nvSpPr>
        <p:spPr>
          <a:xfrm>
            <a:off x="4252011" y="1408879"/>
            <a:ext cx="2731626" cy="2514938"/>
          </a:xfrm>
          <a:prstGeom prst="wedgeEllipseCallou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4C863D-1CB8-4428-54A5-F7BCD995C7D9}"/>
              </a:ext>
            </a:extLst>
          </p:cNvPr>
          <p:cNvSpPr txBox="1"/>
          <p:nvPr/>
        </p:nvSpPr>
        <p:spPr>
          <a:xfrm>
            <a:off x="499503" y="2228819"/>
            <a:ext cx="19976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j-lt"/>
              </a:rPr>
              <a:t>“Highly supportive &amp; understanding staff</a:t>
            </a:r>
            <a:r>
              <a:rPr lang="en-US" sz="2400" dirty="0"/>
              <a:t>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93150A-4871-1875-41B2-966B4525D3AD}"/>
              </a:ext>
            </a:extLst>
          </p:cNvPr>
          <p:cNvSpPr txBox="1"/>
          <p:nvPr/>
        </p:nvSpPr>
        <p:spPr>
          <a:xfrm>
            <a:off x="4548851" y="2158517"/>
            <a:ext cx="22223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j-lt"/>
              </a:rPr>
              <a:t>“Helped me overcome my anxiety”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2A2607-CDAC-273D-34FA-AB50516ECEEF}"/>
              </a:ext>
            </a:extLst>
          </p:cNvPr>
          <p:cNvSpPr txBox="1"/>
          <p:nvPr/>
        </p:nvSpPr>
        <p:spPr>
          <a:xfrm>
            <a:off x="2720051" y="4376865"/>
            <a:ext cx="16760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+mj-lt"/>
              </a:rPr>
              <a:t>“Life changing experience”</a:t>
            </a:r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9" grpId="0"/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033" y="914400"/>
            <a:ext cx="10649519" cy="914400"/>
          </a:xfrm>
        </p:spPr>
        <p:txBody>
          <a:bodyPr/>
          <a:lstStyle/>
          <a:p>
            <a:r>
              <a:rPr lang="en-US" sz="4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CONTACT US 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5A66B7-EE44-5D8C-77F8-F0B3320F5CCE}"/>
              </a:ext>
            </a:extLst>
          </p:cNvPr>
          <p:cNvSpPr txBox="1"/>
          <p:nvPr/>
        </p:nvSpPr>
        <p:spPr>
          <a:xfrm>
            <a:off x="1082233" y="2468972"/>
            <a:ext cx="20598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ADDRESS :</a:t>
            </a:r>
          </a:p>
          <a:p>
            <a:r>
              <a:rPr lang="en-US" sz="3200" dirty="0"/>
              <a:t>PHONE: </a:t>
            </a:r>
          </a:p>
          <a:p>
            <a:r>
              <a:rPr lang="en-US" sz="3200" dirty="0"/>
              <a:t>EMAIL:</a:t>
            </a:r>
          </a:p>
        </p:txBody>
      </p:sp>
      <p:pic>
        <p:nvPicPr>
          <p:cNvPr id="11" name="Graphic 10" descr="Marker with solid fill">
            <a:extLst>
              <a:ext uri="{FF2B5EF4-FFF2-40B4-BE49-F238E27FC236}">
                <a16:creationId xmlns:a16="http://schemas.microsoft.com/office/drawing/2014/main" id="{2A1CF6F0-1168-B560-785D-164328E57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889" y="2526609"/>
            <a:ext cx="457200" cy="457200"/>
          </a:xfrm>
          <a:prstGeom prst="rect">
            <a:avLst/>
          </a:prstGeom>
        </p:spPr>
      </p:pic>
      <p:pic>
        <p:nvPicPr>
          <p:cNvPr id="13" name="Graphic 12" descr="Speaker phone with solid fill">
            <a:extLst>
              <a:ext uri="{FF2B5EF4-FFF2-40B4-BE49-F238E27FC236}">
                <a16:creationId xmlns:a16="http://schemas.microsoft.com/office/drawing/2014/main" id="{C60839A3-9A56-FD9C-1EE4-E244F4E796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033" y="3025202"/>
            <a:ext cx="457200" cy="457200"/>
          </a:xfrm>
          <a:prstGeom prst="rect">
            <a:avLst/>
          </a:prstGeom>
        </p:spPr>
      </p:pic>
      <p:pic>
        <p:nvPicPr>
          <p:cNvPr id="15" name="Graphic 14" descr="Send with solid fill">
            <a:extLst>
              <a:ext uri="{FF2B5EF4-FFF2-40B4-BE49-F238E27FC236}">
                <a16:creationId xmlns:a16="http://schemas.microsoft.com/office/drawing/2014/main" id="{10613463-E02D-2D93-B3C3-90B4BA2C99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429" y="3565188"/>
            <a:ext cx="457200" cy="457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C6E4FE-5828-E51C-780D-6C39952FAE23}"/>
              </a:ext>
            </a:extLst>
          </p:cNvPr>
          <p:cNvSpPr txBox="1"/>
          <p:nvPr/>
        </p:nvSpPr>
        <p:spPr>
          <a:xfrm>
            <a:off x="2675106" y="3069136"/>
            <a:ext cx="2665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hlinkClick r:id="rId6"/>
              </a:rPr>
              <a:t> +92 326 2277891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B34F9-8ED2-EC7E-B756-8971122ED7E6}"/>
              </a:ext>
            </a:extLst>
          </p:cNvPr>
          <p:cNvSpPr txBox="1"/>
          <p:nvPr/>
        </p:nvSpPr>
        <p:spPr>
          <a:xfrm>
            <a:off x="3073940" y="2584388"/>
            <a:ext cx="5603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hlinkClick r:id="rId6"/>
              </a:rPr>
              <a:t>DHA Phase 5, Khaada Market, Stadium Line 2, Karachi.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64B21E-5F8C-7065-B638-5F595350ACD0}"/>
              </a:ext>
            </a:extLst>
          </p:cNvPr>
          <p:cNvSpPr txBox="1"/>
          <p:nvPr/>
        </p:nvSpPr>
        <p:spPr>
          <a:xfrm>
            <a:off x="2383277" y="3565188"/>
            <a:ext cx="4455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hlinkClick r:id="rId6"/>
              </a:rPr>
              <a:t>zara therapy clinic.com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5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393" y="2461192"/>
            <a:ext cx="4629873" cy="1169042"/>
          </a:xfrm>
        </p:spPr>
        <p:txBody>
          <a:bodyPr/>
          <a:lstStyle/>
          <a:p>
            <a:r>
              <a:rPr lang="en-US" dirty="0"/>
              <a:t>THANK  YOU 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4900A4-054D-B5B3-7828-407E89036112}"/>
              </a:ext>
            </a:extLst>
          </p:cNvPr>
          <p:cNvSpPr txBox="1"/>
          <p:nvPr/>
        </p:nvSpPr>
        <p:spPr>
          <a:xfrm>
            <a:off x="3339296" y="3630234"/>
            <a:ext cx="5822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“YOUR MENTAL HEALTH MATTERS”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Click="0" advTm="1000">
        <p14:flythrough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{E35EA1FE-2A4B-459D-8940-8E7234E8129F}TF1ed9553b-00c4-4092-846a-c8f7f2908f3beecd942f_win32-8e33096c3cfc</Template>
  <TotalTime>460</TotalTime>
  <Words>207</Words>
  <Application>Microsoft Office PowerPoint</Application>
  <PresentationFormat>Widescreen</PresentationFormat>
  <Paragraphs>64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Agency FB</vt:lpstr>
      <vt:lpstr>Arial</vt:lpstr>
      <vt:lpstr>Calibri</vt:lpstr>
      <vt:lpstr>Courier New</vt:lpstr>
      <vt:lpstr>Gill Sans Nova Light</vt:lpstr>
      <vt:lpstr>Sagona Book</vt:lpstr>
      <vt:lpstr>Wingdings</vt:lpstr>
      <vt:lpstr>Custom</vt:lpstr>
      <vt:lpstr>ZARA THERAPY CLINIC</vt:lpstr>
      <vt:lpstr>PowerPoint Presentation</vt:lpstr>
      <vt:lpstr>INTRODUCTION</vt:lpstr>
      <vt:lpstr>OUR MISSION </vt:lpstr>
      <vt:lpstr>Our Services </vt:lpstr>
      <vt:lpstr>SPECIALIZED TREATMENTS</vt:lpstr>
      <vt:lpstr>OUR TEAM </vt:lpstr>
      <vt:lpstr>WHY CHOOSE US?</vt:lpstr>
      <vt:lpstr>CLIENT REVIEW :</vt:lpstr>
      <vt:lpstr>CONTACT US :</vt:lpstr>
      <vt:lpstr>THANK  YOU 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eraajnaz ibrahim</dc:creator>
  <cp:lastModifiedBy>eraajnaz ibrahim</cp:lastModifiedBy>
  <cp:revision>3</cp:revision>
  <dcterms:created xsi:type="dcterms:W3CDTF">2026-04-11T10:28:01Z</dcterms:created>
  <dcterms:modified xsi:type="dcterms:W3CDTF">2026-04-12T11:13:57Z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